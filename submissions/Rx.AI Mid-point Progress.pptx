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a551db31f_2_2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9a551db31f_2_2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9" name="Google Shape;79;g39a551db31f_2_2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551db31f_2_35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9a551db31f_2_35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9" name="Google Shape;89;g39a551db31f_2_35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a551db31f_2_4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9a551db31f_2_4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" name="Google Shape;105;g39a551db31f_2_4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551db31f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a551db31f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3" name="Google Shape;113;g39a551db31f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551db31f_0_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9a551db31f_0_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2" name="Google Shape;122;g39a551db31f_0_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a551db31f_2_65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9a551db31f_2_65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2" name="Google Shape;132;g39a551db31f_2_65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551db31f_2_8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9a551db31f_2_8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9" name="Google Shape;149;g39a551db31f_2_8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799904" y="1731839"/>
            <a:ext cx="35441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Rx.AI Multimodal</a:t>
            </a:r>
            <a:endParaRPr b="0" i="0" sz="2800" u="none" cap="none" strike="noStrike"/>
          </a:p>
        </p:txBody>
      </p:sp>
      <p:sp>
        <p:nvSpPr>
          <p:cNvPr id="82" name="Google Shape;82;p21"/>
          <p:cNvSpPr/>
          <p:nvPr/>
        </p:nvSpPr>
        <p:spPr>
          <a:xfrm>
            <a:off x="3154338" y="2231529"/>
            <a:ext cx="2835324" cy="35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Progress Update</a:t>
            </a:r>
            <a:endParaRPr b="0" i="0" sz="2200" u="none" cap="none" strike="noStrike"/>
          </a:p>
        </p:txBody>
      </p:sp>
      <p:sp>
        <p:nvSpPr>
          <p:cNvPr id="83" name="Google Shape;83;p21"/>
          <p:cNvSpPr/>
          <p:nvPr/>
        </p:nvSpPr>
        <p:spPr>
          <a:xfrm>
            <a:off x="496119" y="2798489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Adaptive patient intake with text, voice, and camera interaction.</a:t>
            </a:r>
            <a:endParaRPr b="0" i="0" sz="1100" u="none" cap="none" strike="noStrike"/>
          </a:p>
        </p:txBody>
      </p:sp>
      <p:sp>
        <p:nvSpPr>
          <p:cNvPr id="84" name="Google Shape;84;p21"/>
          <p:cNvSpPr/>
          <p:nvPr/>
        </p:nvSpPr>
        <p:spPr>
          <a:xfrm>
            <a:off x="496119" y="3184773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From static check-in forms to a working multimodal questionnaire flow.</a:t>
            </a:r>
            <a:endParaRPr b="0" i="0" sz="1100" u="none" cap="none" strike="noStrike"/>
          </a:p>
        </p:txBody>
      </p:sp>
      <p:sp>
        <p:nvSpPr>
          <p:cNvPr id="85" name="Google Shape;85;p21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/>
        </p:nvSpPr>
        <p:spPr>
          <a:xfrm>
            <a:off x="496223" y="418225"/>
            <a:ext cx="81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We Built So Far</a:t>
            </a:r>
            <a:endParaRPr b="0" i="0" sz="2800" u="none" cap="none" strike="noStrike"/>
          </a:p>
        </p:txBody>
      </p:sp>
      <p:sp>
        <p:nvSpPr>
          <p:cNvPr id="92" name="Google Shape;92;p22"/>
          <p:cNvSpPr/>
          <p:nvPr/>
        </p:nvSpPr>
        <p:spPr>
          <a:xfrm>
            <a:off x="496225" y="1444964"/>
            <a:ext cx="2622600" cy="2671800"/>
          </a:xfrm>
          <a:prstGeom prst="roundRect">
            <a:avLst>
              <a:gd fmla="val 2604" name="adj"/>
            </a:avLst>
          </a:prstGeom>
          <a:solidFill>
            <a:srgbClr val="5B8FF9"/>
          </a:solidFill>
          <a:ln cap="flat" cmpd="sng" w="9525">
            <a:solidFill>
              <a:srgbClr val="417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2"/>
          <p:cNvSpPr/>
          <p:nvPr/>
        </p:nvSpPr>
        <p:spPr>
          <a:xfrm>
            <a:off x="921569" y="1591475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400" u="none" cap="none" strike="noStrike"/>
          </a:p>
        </p:txBody>
      </p:sp>
      <p:sp>
        <p:nvSpPr>
          <p:cNvPr id="94" name="Google Shape;94;p22"/>
          <p:cNvSpPr/>
          <p:nvPr/>
        </p:nvSpPr>
        <p:spPr>
          <a:xfrm>
            <a:off x="642740" y="1897986"/>
            <a:ext cx="23298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Added adaptive questionnaire generation flow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backend routing for multimodal interactions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Added endpoints for speech-to-text, image analysis, and question generation</a:t>
            </a:r>
            <a:endParaRPr b="0" i="0" sz="1100" u="none" cap="none" strike="noStrike"/>
          </a:p>
        </p:txBody>
      </p:sp>
      <p:sp>
        <p:nvSpPr>
          <p:cNvPr id="95" name="Google Shape;95;p22"/>
          <p:cNvSpPr/>
          <p:nvPr/>
        </p:nvSpPr>
        <p:spPr>
          <a:xfrm>
            <a:off x="3260700" y="1444964"/>
            <a:ext cx="2622600" cy="2671800"/>
          </a:xfrm>
          <a:prstGeom prst="roundRect">
            <a:avLst>
              <a:gd fmla="val 2604" name="adj"/>
            </a:avLst>
          </a:prstGeom>
          <a:solidFill>
            <a:srgbClr val="975BFA"/>
          </a:solidFill>
          <a:ln cap="flat" cmpd="sng" w="9525">
            <a:solidFill>
              <a:srgbClr val="B07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2"/>
          <p:cNvSpPr/>
          <p:nvPr/>
        </p:nvSpPr>
        <p:spPr>
          <a:xfrm>
            <a:off x="3686052" y="1591475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Voice</a:t>
            </a:r>
            <a:endParaRPr b="0" i="0" sz="1400" u="none" cap="none" strike="noStrike"/>
          </a:p>
        </p:txBody>
      </p:sp>
      <p:sp>
        <p:nvSpPr>
          <p:cNvPr id="97" name="Google Shape;97;p22"/>
          <p:cNvSpPr/>
          <p:nvPr/>
        </p:nvSpPr>
        <p:spPr>
          <a:xfrm>
            <a:off x="3407223" y="1897986"/>
            <a:ext cx="23298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Integrated voice mode into the questionnaire flow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Added recording and repeat-question behavior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Added low-confidence transcription handling and editable transcript support</a:t>
            </a:r>
            <a:endParaRPr b="0" i="0" sz="1100" u="none" cap="none" strike="noStrike"/>
          </a:p>
        </p:txBody>
      </p:sp>
      <p:sp>
        <p:nvSpPr>
          <p:cNvPr id="98" name="Google Shape;98;p22"/>
          <p:cNvSpPr/>
          <p:nvPr/>
        </p:nvSpPr>
        <p:spPr>
          <a:xfrm>
            <a:off x="6025175" y="1444964"/>
            <a:ext cx="2622600" cy="2671800"/>
          </a:xfrm>
          <a:prstGeom prst="roundRect">
            <a:avLst>
              <a:gd fmla="val 2604" name="adj"/>
            </a:avLst>
          </a:prstGeom>
          <a:solidFill>
            <a:srgbClr val="5B8FF9"/>
          </a:solidFill>
          <a:ln cap="flat" cmpd="sng" w="9525">
            <a:solidFill>
              <a:srgbClr val="417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>
            <a:off x="6450534" y="1591475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Camera / UI</a:t>
            </a:r>
            <a:endParaRPr b="0" i="0" sz="1400" u="none" cap="none" strike="noStrike"/>
          </a:p>
        </p:txBody>
      </p:sp>
      <p:sp>
        <p:nvSpPr>
          <p:cNvPr id="100" name="Google Shape;100;p22"/>
          <p:cNvSpPr/>
          <p:nvPr/>
        </p:nvSpPr>
        <p:spPr>
          <a:xfrm>
            <a:off x="6171705" y="1897986"/>
            <a:ext cx="2329800" cy="16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Added multimodal questionnaire UI updates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Added patient portal questionnaire release and access flow</a:t>
            </a:r>
            <a:endParaRPr b="0" i="0" sz="1100" u="none" cap="none" strike="noStrike"/>
          </a:p>
          <a:p>
            <a:pPr indent="-222250" lvl="0" marL="215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</a:pPr>
            <a:r>
              <a:rPr b="0" i="0" lang="en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Added text-only and voice-plus-camera interaction modes</a:t>
            </a:r>
            <a:endParaRPr b="0" i="0" sz="1100" u="none" cap="none" strike="noStrike"/>
          </a:p>
        </p:txBody>
      </p:sp>
      <p:sp>
        <p:nvSpPr>
          <p:cNvPr id="101" name="Google Shape;101;p22"/>
          <p:cNvSpPr/>
          <p:nvPr/>
        </p:nvSpPr>
        <p:spPr>
          <a:xfrm>
            <a:off x="7774500" y="4700400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934350" y="194275"/>
            <a:ext cx="7399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 Progress: Provider </a:t>
            </a: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Side</a:t>
            </a:r>
            <a:r>
              <a:rPr b="1" i="0" lang="en" sz="2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Flow</a:t>
            </a:r>
            <a:endParaRPr b="0" i="0" sz="2400" u="none" cap="none" strike="noStrike"/>
          </a:p>
        </p:txBody>
      </p:sp>
      <p:pic>
        <p:nvPicPr>
          <p:cNvPr descr="preencoded.png" id="109" name="Google Shape;1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475" y="771825"/>
            <a:ext cx="7156653" cy="40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/>
        </p:nvSpPr>
        <p:spPr>
          <a:xfrm>
            <a:off x="449600" y="336750"/>
            <a:ext cx="8249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 Progress: Patient Portal &amp; Questionnaire</a:t>
            </a:r>
            <a:endParaRPr b="0" i="0" sz="2800" u="none" cap="none" strike="noStrike"/>
          </a:p>
        </p:txBody>
      </p:sp>
      <p:pic>
        <p:nvPicPr>
          <p:cNvPr descr="preencoded.png" id="116" name="Google Shape;1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575" y="998151"/>
            <a:ext cx="4624852" cy="314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/>
          <p:nvPr/>
        </p:nvSpPr>
        <p:spPr>
          <a:xfrm>
            <a:off x="2259574" y="4363650"/>
            <a:ext cx="4624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Patient portal: Released questionnaires now appear in the patient portal with visit and progress information.</a:t>
            </a:r>
            <a:endParaRPr b="0" i="0" sz="1000" u="none" cap="none" strike="noStrike"/>
          </a:p>
        </p:txBody>
      </p:sp>
      <p:sp>
        <p:nvSpPr>
          <p:cNvPr id="118" name="Google Shape;118;p24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449600" y="336750"/>
            <a:ext cx="8249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 Progress: Patient Portal &amp; Questionnaire</a:t>
            </a:r>
            <a:endParaRPr b="0" i="0" sz="2800" u="none" cap="none" strike="noStrike"/>
          </a:p>
        </p:txBody>
      </p:sp>
      <p:sp>
        <p:nvSpPr>
          <p:cNvPr id="125" name="Google Shape;125;p25"/>
          <p:cNvSpPr/>
          <p:nvPr/>
        </p:nvSpPr>
        <p:spPr>
          <a:xfrm>
            <a:off x="888100" y="4217050"/>
            <a:ext cx="7811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Questionnaire experience: Patients can answer through the updated questionnaire interface with progress tracking and voice controls.</a:t>
            </a:r>
            <a:endParaRPr b="0" i="0" sz="1000" u="none" cap="none" strike="noStrike"/>
          </a:p>
        </p:txBody>
      </p:sp>
      <p:sp>
        <p:nvSpPr>
          <p:cNvPr id="126" name="Google Shape;126;p25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27" name="Google Shape;127;p25" title="Screenshot 2026-04-28 at 1.31.20 PM.png"/>
          <p:cNvPicPr preferRelativeResize="0"/>
          <p:nvPr/>
        </p:nvPicPr>
        <p:blipFill rotWithShape="1">
          <a:blip r:embed="rId3">
            <a:alphaModFix/>
          </a:blip>
          <a:srcRect b="0" l="21446" r="20405" t="13277"/>
          <a:stretch/>
        </p:blipFill>
        <p:spPr>
          <a:xfrm>
            <a:off x="888088" y="1001100"/>
            <a:ext cx="3088727" cy="2991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475" y="1001100"/>
            <a:ext cx="3563849" cy="294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441875" y="319650"/>
            <a:ext cx="807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Working End-to-End Flow</a:t>
            </a:r>
            <a:endParaRPr b="0" i="0" sz="2800" u="none" cap="none" strike="noStrike"/>
          </a:p>
        </p:txBody>
      </p:sp>
      <p:pic>
        <p:nvPicPr>
          <p:cNvPr descr="preencoded.png"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71" y="98762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1185565" y="1113830"/>
            <a:ext cx="5000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Provider creates a new visit and enters patient condition context.</a:t>
            </a:r>
            <a:endParaRPr b="0" i="0" sz="1200" u="none" cap="none" strike="noStrike"/>
          </a:p>
        </p:txBody>
      </p:sp>
      <p:pic>
        <p:nvPicPr>
          <p:cNvPr descr="preencoded.png" id="137" name="Google Shape;1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871" y="1745159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/>
          <p:nvPr/>
        </p:nvSpPr>
        <p:spPr>
          <a:xfrm>
            <a:off x="1185565" y="1871365"/>
            <a:ext cx="4775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generates a dynamic questionnaire based on the visit.</a:t>
            </a:r>
            <a:endParaRPr b="0" i="0" sz="1200" u="none" cap="none" strike="noStrike"/>
          </a:p>
        </p:txBody>
      </p:sp>
      <p:pic>
        <p:nvPicPr>
          <p:cNvPr descr="preencoded.png" id="139" name="Google Shape;13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871" y="250269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1185565" y="2628900"/>
            <a:ext cx="35622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Questionnaire is released to the patient portal.</a:t>
            </a:r>
            <a:endParaRPr b="0" i="0" sz="1200" u="none" cap="none" strike="noStrike"/>
          </a:p>
        </p:txBody>
      </p:sp>
      <p:pic>
        <p:nvPicPr>
          <p:cNvPr descr="preencoded.png" id="141" name="Google Shape;14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871" y="3260229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/>
          <p:nvPr/>
        </p:nvSpPr>
        <p:spPr>
          <a:xfrm>
            <a:off x="1185576" y="3386424"/>
            <a:ext cx="5646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Patient opens the questionnaire and answers through text</a:t>
            </a:r>
            <a:r>
              <a:rPr b="1" lang="en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voice</a:t>
            </a:r>
            <a:r>
              <a:rPr b="1" lang="en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or images.</a:t>
            </a:r>
            <a:endParaRPr b="0" i="0" sz="1200" u="none" cap="none" strike="noStrike"/>
          </a:p>
        </p:txBody>
      </p:sp>
      <p:pic>
        <p:nvPicPr>
          <p:cNvPr descr="preencoded.png" id="143" name="Google Shape;14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871" y="401776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/>
          <p:nvPr/>
        </p:nvSpPr>
        <p:spPr>
          <a:xfrm>
            <a:off x="1185565" y="4143971"/>
            <a:ext cx="59193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00"/>
              <a:buFont typeface="Inter"/>
              <a:buNone/>
            </a:pPr>
            <a:r>
              <a:rPr b="1" i="0" lang="en" sz="1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intake process becomes more adaptive and structured than a fixed form.</a:t>
            </a:r>
            <a:endParaRPr b="0" i="0" sz="1200" u="none" cap="none" strike="noStrike"/>
          </a:p>
        </p:txBody>
      </p:sp>
      <p:sp>
        <p:nvSpPr>
          <p:cNvPr id="145" name="Google Shape;145;p26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/>
          <p:nvPr/>
        </p:nvSpPr>
        <p:spPr>
          <a:xfrm>
            <a:off x="496212" y="776200"/>
            <a:ext cx="81516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b="1" i="0" lang="en" sz="2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Next Steps</a:t>
            </a:r>
            <a:endParaRPr b="0" i="0" sz="2800" u="none" cap="none" strike="noStrike"/>
          </a:p>
        </p:txBody>
      </p:sp>
      <p:sp>
        <p:nvSpPr>
          <p:cNvPr id="152" name="Google Shape;152;p27"/>
          <p:cNvSpPr/>
          <p:nvPr/>
        </p:nvSpPr>
        <p:spPr>
          <a:xfrm>
            <a:off x="496119" y="1780282"/>
            <a:ext cx="283517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100" u="none" cap="none" strike="noStrike"/>
          </a:p>
        </p:txBody>
      </p:sp>
      <p:sp>
        <p:nvSpPr>
          <p:cNvPr id="153" name="Google Shape;153;p27"/>
          <p:cNvSpPr/>
          <p:nvPr/>
        </p:nvSpPr>
        <p:spPr>
          <a:xfrm>
            <a:off x="496119" y="2002185"/>
            <a:ext cx="2622724" cy="19050"/>
          </a:xfrm>
          <a:prstGeom prst="rect">
            <a:avLst/>
          </a:prstGeom>
          <a:solidFill>
            <a:srgbClr val="5B8F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/>
          <p:nvPr/>
        </p:nvSpPr>
        <p:spPr>
          <a:xfrm>
            <a:off x="496119" y="21111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Polish</a:t>
            </a:r>
            <a:endParaRPr b="0" i="0" sz="1400" u="none" cap="none" strike="noStrike"/>
          </a:p>
        </p:txBody>
      </p:sp>
      <p:sp>
        <p:nvSpPr>
          <p:cNvPr id="155" name="Google Shape;155;p27"/>
          <p:cNvSpPr/>
          <p:nvPr/>
        </p:nvSpPr>
        <p:spPr>
          <a:xfrm>
            <a:off x="496119" y="2417639"/>
            <a:ext cx="262272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Polish the user experience and edge cases.</a:t>
            </a:r>
            <a:endParaRPr b="0" i="0" sz="1100" u="none" cap="none" strike="noStrike"/>
          </a:p>
        </p:txBody>
      </p:sp>
      <p:sp>
        <p:nvSpPr>
          <p:cNvPr id="156" name="Google Shape;156;p27"/>
          <p:cNvSpPr/>
          <p:nvPr/>
        </p:nvSpPr>
        <p:spPr>
          <a:xfrm>
            <a:off x="3260601" y="1780282"/>
            <a:ext cx="283517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100" u="none" cap="none" strike="noStrike"/>
          </a:p>
        </p:txBody>
      </p:sp>
      <p:sp>
        <p:nvSpPr>
          <p:cNvPr id="157" name="Google Shape;157;p27"/>
          <p:cNvSpPr/>
          <p:nvPr/>
        </p:nvSpPr>
        <p:spPr>
          <a:xfrm>
            <a:off x="3260601" y="2002185"/>
            <a:ext cx="2622724" cy="19050"/>
          </a:xfrm>
          <a:prstGeom prst="rect">
            <a:avLst/>
          </a:prstGeom>
          <a:solidFill>
            <a:srgbClr val="5B8F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3260601" y="21111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Testing</a:t>
            </a:r>
            <a:endParaRPr b="0" i="0" sz="1400" u="none" cap="none" strike="noStrike"/>
          </a:p>
        </p:txBody>
      </p:sp>
      <p:sp>
        <p:nvSpPr>
          <p:cNvPr id="159" name="Google Shape;159;p27"/>
          <p:cNvSpPr/>
          <p:nvPr/>
        </p:nvSpPr>
        <p:spPr>
          <a:xfrm>
            <a:off x="3260601" y="2417639"/>
            <a:ext cx="262272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testing across text, voice, and multimodal flows.</a:t>
            </a:r>
            <a:endParaRPr b="0" i="0" sz="1100" u="none" cap="none" strike="noStrike"/>
          </a:p>
        </p:txBody>
      </p:sp>
      <p:sp>
        <p:nvSpPr>
          <p:cNvPr id="160" name="Google Shape;160;p27"/>
          <p:cNvSpPr/>
          <p:nvPr/>
        </p:nvSpPr>
        <p:spPr>
          <a:xfrm>
            <a:off x="6025083" y="1780282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100" u="none" cap="none" strike="noStrike"/>
          </a:p>
        </p:txBody>
      </p:sp>
      <p:sp>
        <p:nvSpPr>
          <p:cNvPr id="161" name="Google Shape;161;p27"/>
          <p:cNvSpPr/>
          <p:nvPr/>
        </p:nvSpPr>
        <p:spPr>
          <a:xfrm>
            <a:off x="6025083" y="2002185"/>
            <a:ext cx="2622724" cy="19050"/>
          </a:xfrm>
          <a:prstGeom prst="rect">
            <a:avLst/>
          </a:prstGeom>
          <a:solidFill>
            <a:srgbClr val="5B8F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6025083" y="2111127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endParaRPr b="0" i="0" sz="1400" u="none" cap="none" strike="noStrike"/>
          </a:p>
        </p:txBody>
      </p:sp>
      <p:sp>
        <p:nvSpPr>
          <p:cNvPr id="163" name="Google Shape;163;p27"/>
          <p:cNvSpPr/>
          <p:nvPr/>
        </p:nvSpPr>
        <p:spPr>
          <a:xfrm>
            <a:off x="6025083" y="2417639"/>
            <a:ext cx="262272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Improve reliability for speech transcription and interaction handling.</a:t>
            </a:r>
            <a:endParaRPr b="0" i="0" sz="1100" u="none" cap="none" strike="noStrike"/>
          </a:p>
        </p:txBody>
      </p:sp>
      <p:sp>
        <p:nvSpPr>
          <p:cNvPr id="164" name="Google Shape;164;p27"/>
          <p:cNvSpPr/>
          <p:nvPr/>
        </p:nvSpPr>
        <p:spPr>
          <a:xfrm>
            <a:off x="496119" y="3119289"/>
            <a:ext cx="283517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100" u="none" cap="none" strike="noStrike"/>
          </a:p>
        </p:txBody>
      </p:sp>
      <p:sp>
        <p:nvSpPr>
          <p:cNvPr id="165" name="Google Shape;165;p27"/>
          <p:cNvSpPr/>
          <p:nvPr/>
        </p:nvSpPr>
        <p:spPr>
          <a:xfrm>
            <a:off x="496119" y="3341191"/>
            <a:ext cx="4004965" cy="19050"/>
          </a:xfrm>
          <a:prstGeom prst="rect">
            <a:avLst/>
          </a:prstGeom>
          <a:solidFill>
            <a:srgbClr val="975B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496119" y="345013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b="0" i="0" sz="1400" u="none" cap="none" strike="noStrike"/>
          </a:p>
        </p:txBody>
      </p:sp>
      <p:sp>
        <p:nvSpPr>
          <p:cNvPr id="167" name="Google Shape;167;p27"/>
          <p:cNvSpPr/>
          <p:nvPr/>
        </p:nvSpPr>
        <p:spPr>
          <a:xfrm>
            <a:off x="496119" y="3756645"/>
            <a:ext cx="40049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Finalize demo scenarios and presentation materials.</a:t>
            </a:r>
            <a:endParaRPr b="0" i="0" sz="1100" u="none" cap="none" strike="noStrike"/>
          </a:p>
        </p:txBody>
      </p:sp>
      <p:sp>
        <p:nvSpPr>
          <p:cNvPr id="168" name="Google Shape;168;p27"/>
          <p:cNvSpPr/>
          <p:nvPr/>
        </p:nvSpPr>
        <p:spPr>
          <a:xfrm>
            <a:off x="4642842" y="3119289"/>
            <a:ext cx="283518" cy="1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100" u="none" cap="none" strike="noStrike"/>
          </a:p>
        </p:txBody>
      </p:sp>
      <p:sp>
        <p:nvSpPr>
          <p:cNvPr id="169" name="Google Shape;169;p27"/>
          <p:cNvSpPr/>
          <p:nvPr/>
        </p:nvSpPr>
        <p:spPr>
          <a:xfrm>
            <a:off x="4642843" y="3341191"/>
            <a:ext cx="4004965" cy="19050"/>
          </a:xfrm>
          <a:prstGeom prst="rect">
            <a:avLst/>
          </a:prstGeom>
          <a:solidFill>
            <a:srgbClr val="975B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4642843" y="345013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i="0" lang="en" sz="14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Submission</a:t>
            </a:r>
            <a:endParaRPr b="0" i="0" sz="1400" u="none" cap="none" strike="noStrike"/>
          </a:p>
        </p:txBody>
      </p:sp>
      <p:sp>
        <p:nvSpPr>
          <p:cNvPr id="171" name="Google Shape;171;p27"/>
          <p:cNvSpPr/>
          <p:nvPr/>
        </p:nvSpPr>
        <p:spPr>
          <a:xfrm>
            <a:off x="4642843" y="3756645"/>
            <a:ext cx="4004965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Prepare the system for final walkthrough and submission.</a:t>
            </a:r>
            <a:endParaRPr b="0" i="0" sz="1100" u="none" cap="none" strike="noStrike"/>
          </a:p>
        </p:txBody>
      </p:sp>
      <p:sp>
        <p:nvSpPr>
          <p:cNvPr id="172" name="Google Shape;172;p27"/>
          <p:cNvSpPr/>
          <p:nvPr/>
        </p:nvSpPr>
        <p:spPr>
          <a:xfrm>
            <a:off x="7725100" y="4650825"/>
            <a:ext cx="1369500" cy="44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